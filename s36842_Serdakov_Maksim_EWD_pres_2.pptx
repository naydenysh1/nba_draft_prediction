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4911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assessment and preparation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assessment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1663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Player-level dataset for NBA Draft classes 2000-2026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2,347 players, 51 attributes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2026 players included without final draft labels</a:t>
            </a:r>
            <a:endParaRPr lang="en-US" sz="162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data issues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39" y="3035807"/>
            <a:ext cx="5669280" cy="1417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ru-RU" sz="1620" dirty="0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- </a:t>
            </a:r>
            <a:r>
              <a:rPr lang="en-US" sz="1620" dirty="0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Missing values are systematic, not random</a:t>
            </a:r>
            <a:endParaRPr lang="en-US" sz="1620" dirty="0">
              <a:latin typeface="+mj-lt"/>
            </a:endParaRPr>
          </a:p>
          <a:p>
            <a:pPr marL="0" indent="0">
              <a:buNone/>
            </a:pPr>
            <a:r>
              <a:rPr lang="ru-RU" sz="1620" dirty="0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- </a:t>
            </a:r>
            <a:r>
              <a:rPr lang="en-US" sz="1620" dirty="0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Combine data missing for some prospects</a:t>
            </a:r>
            <a:endParaRPr lang="en-US" sz="1620" dirty="0">
              <a:latin typeface="+mj-lt"/>
            </a:endParaRPr>
          </a:p>
          <a:p>
            <a:pPr marL="0" indent="0">
              <a:buNone/>
            </a:pPr>
            <a:r>
              <a:rPr lang="ru-RU" sz="1620" dirty="0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- </a:t>
            </a:r>
            <a:r>
              <a:rPr lang="en-US" sz="1620" dirty="0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NCAA statistics absent for international / non-college players</a:t>
            </a:r>
            <a:endParaRPr lang="en-US" sz="1620" dirty="0">
              <a:latin typeface="+mj-lt"/>
            </a:endParaRPr>
          </a:p>
          <a:p>
            <a:pPr marL="0" indent="0">
              <a:buNone/>
            </a:pPr>
            <a:r>
              <a:rPr lang="ru-RU" sz="1620" dirty="0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- </a:t>
            </a:r>
            <a:r>
              <a:rPr lang="en-US" sz="1620" dirty="0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Some advanced NCAA metrics had scale inconsistencies</a:t>
            </a:r>
            <a:endParaRPr lang="en-US" sz="162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preprocessing decisions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10328"/>
            <a:ext cx="5669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ru-RU" sz="151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51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transformed to 5 draft outcome groups</a:t>
            </a:r>
            <a:endParaRPr lang="en-US" sz="1510" dirty="0"/>
          </a:p>
          <a:p>
            <a:pPr marL="0" indent="0">
              <a:buNone/>
            </a:pPr>
            <a:r>
              <a:rPr lang="ru-RU" sz="151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51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NCAA-only scope: 1,773 historical / 74 in 2026 pool</a:t>
            </a:r>
            <a:endParaRPr lang="en-US" sz="1510" dirty="0"/>
          </a:p>
          <a:p>
            <a:pPr marL="0" indent="0">
              <a:buNone/>
            </a:pPr>
            <a:r>
              <a:rPr lang="ru-RU" sz="151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51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Leakage, sparse and inconsistent features removed</a:t>
            </a:r>
            <a:endParaRPr lang="en-US" sz="1510" dirty="0"/>
          </a:p>
          <a:p>
            <a:pPr marL="0" indent="0">
              <a:buNone/>
            </a:pPr>
            <a:r>
              <a:rPr lang="ru-RU" sz="151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51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Position-wise median imputation, one-hot encoding, scaling</a:t>
            </a:r>
            <a:endParaRPr lang="en-US" sz="1510" dirty="0"/>
          </a:p>
        </p:txBody>
      </p:sp>
      <p:sp>
        <p:nvSpPr>
          <p:cNvPr id="11" name="Text 9"/>
          <p:cNvSpPr/>
          <p:nvPr/>
        </p:nvSpPr>
        <p:spPr>
          <a:xfrm>
            <a:off x="6780597" y="5338755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780597" y="5586984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pick prediction is noisy and context-dependent.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outcome groups are more stable and easier to interpret.</a:t>
            </a:r>
            <a:endParaRPr lang="en-US" sz="145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FD100E1-9D0E-4AAB-D4FD-E8F2DD79E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471" y="374662"/>
            <a:ext cx="4408771" cy="49547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0368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and evaluation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0368" y="1271436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setup</a:t>
            </a:r>
            <a:endParaRPr lang="en-US" sz="1530" dirty="0"/>
          </a:p>
        </p:txBody>
      </p:sp>
      <p:sp>
        <p:nvSpPr>
          <p:cNvPr id="4" name="Text 2"/>
          <p:cNvSpPr/>
          <p:nvPr/>
        </p:nvSpPr>
        <p:spPr>
          <a:xfrm>
            <a:off x="470368" y="1739645"/>
            <a:ext cx="5349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Train/validation experiment on historical NCAA-based data</a:t>
            </a:r>
            <a:endParaRPr lang="ru-RU" sz="1530" dirty="0">
              <a:solidFill>
                <a:srgbClr val="000000"/>
              </a:solidFill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Models tested: </a:t>
            </a:r>
          </a:p>
          <a:p>
            <a:pPr marL="0" indent="0">
              <a:buNone/>
            </a:pPr>
            <a:r>
              <a:rPr lang="en-US" sz="153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Dummy</a:t>
            </a:r>
            <a:r>
              <a:rPr lang="ru-RU" sz="153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53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Classifier, Logistic Regression, Gaussian Naive Bayes, </a:t>
            </a:r>
          </a:p>
          <a:p>
            <a:pPr marL="0" indent="0">
              <a:buNone/>
            </a:pPr>
            <a:r>
              <a:rPr lang="en-US" sz="153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Linear SVM, Decision Tree, Random Forest</a:t>
            </a:r>
            <a:endParaRPr lang="en-US" sz="1530" dirty="0"/>
          </a:p>
          <a:p>
            <a:pPr marL="0" indent="0">
              <a:buNone/>
            </a:pPr>
            <a:endParaRPr lang="en-US" sz="1530" dirty="0">
              <a:solidFill>
                <a:srgbClr val="000000"/>
              </a:solidFill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53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Main metric: macro F1-score (unbalanced classes)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6624587" y="735129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final model for 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2025 test</a:t>
            </a:r>
            <a:r>
              <a:rPr lang="en-US" sz="15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30" b="1" dirty="0"/>
          </a:p>
        </p:txBody>
      </p:sp>
      <p:sp>
        <p:nvSpPr>
          <p:cNvPr id="6" name="Text 4"/>
          <p:cNvSpPr/>
          <p:nvPr/>
        </p:nvSpPr>
        <p:spPr>
          <a:xfrm>
            <a:off x="6624587" y="1163693"/>
            <a:ext cx="5349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Random Forest with </a:t>
            </a:r>
          </a:p>
          <a:p>
            <a:pPr marL="285750" indent="-285750">
              <a:buFontTx/>
              <a:buChar char="-"/>
            </a:pPr>
            <a:r>
              <a:rPr lang="ru-RU" sz="1400" dirty="0" err="1"/>
              <a:t>n_estimators</a:t>
            </a:r>
            <a:r>
              <a:rPr lang="ru-RU" sz="1400" dirty="0"/>
              <a:t>=</a:t>
            </a:r>
            <a:r>
              <a:rPr lang="en-US" sz="1400" dirty="0"/>
              <a:t>3</a:t>
            </a:r>
            <a:r>
              <a:rPr lang="ru-RU" sz="1400" dirty="0"/>
              <a:t>00, 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ru-RU" sz="1400" dirty="0" err="1"/>
              <a:t>max_depth</a:t>
            </a:r>
            <a:r>
              <a:rPr lang="ru-RU" sz="1400" dirty="0"/>
              <a:t>=</a:t>
            </a:r>
            <a:r>
              <a:rPr lang="en-US" sz="1400" dirty="0"/>
              <a:t>None</a:t>
            </a:r>
            <a:r>
              <a:rPr lang="ru-RU" sz="1400" dirty="0"/>
              <a:t>, 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ru-RU" sz="1400" dirty="0" err="1"/>
              <a:t>min_samples_leaf</a:t>
            </a:r>
            <a:r>
              <a:rPr lang="ru-RU" sz="1400" dirty="0"/>
              <a:t>=</a:t>
            </a:r>
            <a:r>
              <a:rPr lang="en-US" sz="1400" dirty="0"/>
              <a:t>5</a:t>
            </a:r>
            <a:r>
              <a:rPr lang="ru-RU" sz="1400" dirty="0"/>
              <a:t>, 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ru-RU" sz="1400" dirty="0" err="1"/>
              <a:t>max_features</a:t>
            </a:r>
            <a:r>
              <a:rPr lang="ru-RU" sz="1400" dirty="0"/>
              <a:t>=</a:t>
            </a:r>
            <a:r>
              <a:rPr lang="en-US" sz="1400" dirty="0"/>
              <a:t>sqrt</a:t>
            </a:r>
            <a:r>
              <a:rPr lang="ru-RU" sz="1400" dirty="0"/>
              <a:t>, 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ru-RU" sz="1400" dirty="0" err="1"/>
              <a:t>class_weight</a:t>
            </a:r>
            <a:r>
              <a:rPr lang="ru-RU" sz="1400" dirty="0"/>
              <a:t>=</a:t>
            </a:r>
            <a:r>
              <a:rPr lang="ru-RU" sz="1400" dirty="0" err="1"/>
              <a:t>balanced_subsample</a:t>
            </a:r>
            <a:endParaRPr lang="ru-RU" sz="1400" dirty="0"/>
          </a:p>
          <a:p>
            <a:pPr marL="0" indent="0">
              <a:buNone/>
            </a:pPr>
            <a:endParaRPr lang="en-US" sz="1400" dirty="0"/>
          </a:p>
          <a:p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Selected after </a:t>
            </a:r>
            <a:r>
              <a:rPr lang="ru-RU" sz="1400" dirty="0" err="1"/>
              <a:t>hyperparameter</a:t>
            </a:r>
            <a:r>
              <a:rPr lang="ru-RU" sz="1400" dirty="0"/>
              <a:t> </a:t>
            </a:r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tuning and cross-validation on 2000-2024 data</a:t>
            </a:r>
            <a:endParaRPr lang="en-US" sz="1400" dirty="0"/>
          </a:p>
        </p:txBody>
      </p:sp>
      <p:graphicFrame>
        <p:nvGraphicFramePr>
          <p:cNvPr id="44" name="Таблица 43">
            <a:extLst>
              <a:ext uri="{FF2B5EF4-FFF2-40B4-BE49-F238E27FC236}">
                <a16:creationId xmlns:a16="http://schemas.microsoft.com/office/drawing/2014/main" id="{F5E87720-FA36-4AAA-F336-279E5F6D2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760996"/>
              </p:ext>
            </p:extLst>
          </p:nvPr>
        </p:nvGraphicFramePr>
        <p:xfrm>
          <a:off x="470368" y="3314698"/>
          <a:ext cx="5962983" cy="2753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7661">
                  <a:extLst>
                    <a:ext uri="{9D8B030D-6E8A-4147-A177-3AD203B41FA5}">
                      <a16:colId xmlns:a16="http://schemas.microsoft.com/office/drawing/2014/main" val="2515932947"/>
                    </a:ext>
                  </a:extLst>
                </a:gridCol>
                <a:gridCol w="1987661">
                  <a:extLst>
                    <a:ext uri="{9D8B030D-6E8A-4147-A177-3AD203B41FA5}">
                      <a16:colId xmlns:a16="http://schemas.microsoft.com/office/drawing/2014/main" val="1257045010"/>
                    </a:ext>
                  </a:extLst>
                </a:gridCol>
                <a:gridCol w="1987661">
                  <a:extLst>
                    <a:ext uri="{9D8B030D-6E8A-4147-A177-3AD203B41FA5}">
                      <a16:colId xmlns:a16="http://schemas.microsoft.com/office/drawing/2014/main" val="4080523734"/>
                    </a:ext>
                  </a:extLst>
                </a:gridCol>
              </a:tblGrid>
              <a:tr h="39333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b="1" dirty="0" err="1">
                          <a:effectLst/>
                        </a:rPr>
                        <a:t>model</a:t>
                      </a:r>
                      <a:endParaRPr lang="ru-RU" sz="14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b="1">
                          <a:effectLst/>
                        </a:rPr>
                        <a:t>macro_f1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b="1">
                          <a:effectLst/>
                        </a:rPr>
                        <a:t>balanced_accuracy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815227"/>
                  </a:ext>
                </a:extLst>
              </a:tr>
              <a:tr h="39333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dirty="0" err="1">
                          <a:effectLst/>
                        </a:rPr>
                        <a:t>Dummy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Classifier</a:t>
                      </a:r>
                      <a:endParaRPr lang="ru-RU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dirty="0">
                          <a:effectLst/>
                        </a:rPr>
                        <a:t>0.102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dirty="0">
                          <a:effectLst/>
                        </a:rPr>
                        <a:t>0.200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8203253"/>
                  </a:ext>
                </a:extLst>
              </a:tr>
              <a:tr h="39333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dirty="0" err="1">
                          <a:effectLst/>
                        </a:rPr>
                        <a:t>Logistic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Regression</a:t>
                      </a:r>
                      <a:endParaRPr lang="ru-RU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dirty="0">
                          <a:effectLst/>
                        </a:rPr>
                        <a:t>0.437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0.483</a:t>
                      </a:r>
                      <a:endParaRPr lang="ru-RU" sz="1400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596701"/>
                  </a:ext>
                </a:extLst>
              </a:tr>
              <a:tr h="39333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dirty="0" err="1">
                          <a:effectLst/>
                        </a:rPr>
                        <a:t>Gaussian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Naive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Bayes</a:t>
                      </a:r>
                      <a:endParaRPr lang="ru-RU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dirty="0">
                          <a:effectLst/>
                        </a:rPr>
                        <a:t>0.080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0.202</a:t>
                      </a:r>
                      <a:endParaRPr lang="ru-RU" sz="1400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617417"/>
                  </a:ext>
                </a:extLst>
              </a:tr>
              <a:tr h="39333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dirty="0" err="1">
                          <a:effectLst/>
                        </a:rPr>
                        <a:t>Linear</a:t>
                      </a:r>
                      <a:r>
                        <a:rPr lang="ru-RU" sz="1400" dirty="0">
                          <a:effectLst/>
                        </a:rPr>
                        <a:t> 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dirty="0">
                          <a:effectLst/>
                        </a:rPr>
                        <a:t>0.390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0.448</a:t>
                      </a:r>
                      <a:endParaRPr lang="ru-RU" sz="1400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0119756"/>
                  </a:ext>
                </a:extLst>
              </a:tr>
              <a:tr h="39333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dirty="0" err="1">
                          <a:effectLst/>
                        </a:rPr>
                        <a:t>Decision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Tree</a:t>
                      </a:r>
                      <a:endParaRPr lang="ru-RU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dirty="0">
                          <a:effectLst/>
                        </a:rPr>
                        <a:t>0.424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0.425</a:t>
                      </a:r>
                      <a:endParaRPr lang="ru-RU" sz="1400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1427444"/>
                  </a:ext>
                </a:extLst>
              </a:tr>
              <a:tr h="39333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dirty="0" err="1">
                          <a:effectLst/>
                        </a:rPr>
                        <a:t>Random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Forest</a:t>
                      </a:r>
                      <a:endParaRPr lang="ru-RU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dirty="0">
                          <a:effectLst/>
                        </a:rPr>
                        <a:t>0.530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0.522</a:t>
                      </a:r>
                      <a:endParaRPr lang="ru-RU" sz="1400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570134"/>
                  </a:ext>
                </a:extLst>
              </a:tr>
            </a:tbl>
          </a:graphicData>
        </a:graphic>
      </p:graphicFrame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03EFC9AD-AB33-3EC5-9518-EEF162DC7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879" y="3356734"/>
            <a:ext cx="5080656" cy="2669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3DDC5F-CE55-CCDD-AAC3-EE894CB6A8DB}"/>
              </a:ext>
            </a:extLst>
          </p:cNvPr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test prediction</a:t>
            </a:r>
            <a:endParaRPr lang="en-US" sz="230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92BD9794-D1A4-3833-FFC6-7A7E86A936C6}"/>
              </a:ext>
            </a:extLst>
          </p:cNvPr>
          <p:cNvSpPr/>
          <p:nvPr/>
        </p:nvSpPr>
        <p:spPr>
          <a:xfrm>
            <a:off x="459004" y="5342111"/>
            <a:ext cx="210312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344BAE2C-01C4-F66B-1FCA-56C2AF812E02}"/>
              </a:ext>
            </a:extLst>
          </p:cNvPr>
          <p:cNvSpPr/>
          <p:nvPr/>
        </p:nvSpPr>
        <p:spPr>
          <a:xfrm>
            <a:off x="504724" y="5387831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200" dirty="0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94097B1C-F653-7438-2499-DF65E13E341A}"/>
              </a:ext>
            </a:extLst>
          </p:cNvPr>
          <p:cNvSpPr/>
          <p:nvPr/>
        </p:nvSpPr>
        <p:spPr>
          <a:xfrm>
            <a:off x="2562124" y="5342111"/>
            <a:ext cx="100584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62156B0C-67CF-F0CD-14C2-E1EE4A9B42A1}"/>
              </a:ext>
            </a:extLst>
          </p:cNvPr>
          <p:cNvSpPr/>
          <p:nvPr/>
        </p:nvSpPr>
        <p:spPr>
          <a:xfrm>
            <a:off x="2607844" y="5387831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3ACC8D4B-1CC9-00AD-85BB-1FA7162707B0}"/>
              </a:ext>
            </a:extLst>
          </p:cNvPr>
          <p:cNvSpPr/>
          <p:nvPr/>
        </p:nvSpPr>
        <p:spPr>
          <a:xfrm>
            <a:off x="3567964" y="5342111"/>
            <a:ext cx="100584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59F3A22D-1873-900F-D564-15226BC376F6}"/>
              </a:ext>
            </a:extLst>
          </p:cNvPr>
          <p:cNvSpPr/>
          <p:nvPr/>
        </p:nvSpPr>
        <p:spPr>
          <a:xfrm>
            <a:off x="3613684" y="5387831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200" dirty="0"/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40220610-CA4C-9F01-A421-2EC8EE7146A0}"/>
              </a:ext>
            </a:extLst>
          </p:cNvPr>
          <p:cNvSpPr/>
          <p:nvPr/>
        </p:nvSpPr>
        <p:spPr>
          <a:xfrm>
            <a:off x="4573804" y="5342111"/>
            <a:ext cx="123444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7CF678B6-DC89-F524-3889-F8D1B994E107}"/>
              </a:ext>
            </a:extLst>
          </p:cNvPr>
          <p:cNvSpPr/>
          <p:nvPr/>
        </p:nvSpPr>
        <p:spPr>
          <a:xfrm>
            <a:off x="4619524" y="5387831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acc.</a:t>
            </a:r>
            <a:endParaRPr lang="en-US" sz="1200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033D1B34-E5F2-FF56-0AB1-DB45C42A8F5D}"/>
              </a:ext>
            </a:extLst>
          </p:cNvPr>
          <p:cNvSpPr/>
          <p:nvPr/>
        </p:nvSpPr>
        <p:spPr>
          <a:xfrm>
            <a:off x="459004" y="5689583"/>
            <a:ext cx="210312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11B250C1-A25B-F40F-7A90-E015EA92C405}"/>
              </a:ext>
            </a:extLst>
          </p:cNvPr>
          <p:cNvSpPr/>
          <p:nvPr/>
        </p:nvSpPr>
        <p:spPr>
          <a:xfrm>
            <a:off x="504724" y="5735303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0967298D-8BF3-43D5-6446-BC5B58206D37}"/>
              </a:ext>
            </a:extLst>
          </p:cNvPr>
          <p:cNvSpPr/>
          <p:nvPr/>
        </p:nvSpPr>
        <p:spPr>
          <a:xfrm>
            <a:off x="2562124" y="5689583"/>
            <a:ext cx="100584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160B9BA3-6008-C0AD-2151-A206B02C6151}"/>
              </a:ext>
            </a:extLst>
          </p:cNvPr>
          <p:cNvSpPr/>
          <p:nvPr/>
        </p:nvSpPr>
        <p:spPr>
          <a:xfrm>
            <a:off x="2607844" y="5735303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0.687</a:t>
            </a:r>
            <a:endParaRPr lang="en-US" sz="1200" dirty="0"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726E1339-C664-0BC6-E220-819924FDD31F}"/>
              </a:ext>
            </a:extLst>
          </p:cNvPr>
          <p:cNvSpPr/>
          <p:nvPr/>
        </p:nvSpPr>
        <p:spPr>
          <a:xfrm>
            <a:off x="3567964" y="5689583"/>
            <a:ext cx="100584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C871F85D-E344-8064-3456-AE7CE6A189B7}"/>
              </a:ext>
            </a:extLst>
          </p:cNvPr>
          <p:cNvSpPr/>
          <p:nvPr/>
        </p:nvSpPr>
        <p:spPr>
          <a:xfrm>
            <a:off x="3613684" y="5735303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0.634</a:t>
            </a:r>
            <a:endParaRPr lang="en-US" sz="1200" dirty="0"/>
          </a:p>
        </p:txBody>
      </p:sp>
      <p:sp>
        <p:nvSpPr>
          <p:cNvPr id="17" name="Shape 19">
            <a:extLst>
              <a:ext uri="{FF2B5EF4-FFF2-40B4-BE49-F238E27FC236}">
                <a16:creationId xmlns:a16="http://schemas.microsoft.com/office/drawing/2014/main" id="{403D0820-3E6F-542B-8525-D8DEBDA3FF23}"/>
              </a:ext>
            </a:extLst>
          </p:cNvPr>
          <p:cNvSpPr/>
          <p:nvPr/>
        </p:nvSpPr>
        <p:spPr>
          <a:xfrm>
            <a:off x="4573804" y="5689583"/>
            <a:ext cx="123444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EBB220DE-7EF7-4150-F806-CB356FD0A747}"/>
              </a:ext>
            </a:extLst>
          </p:cNvPr>
          <p:cNvSpPr/>
          <p:nvPr/>
        </p:nvSpPr>
        <p:spPr>
          <a:xfrm>
            <a:off x="4619524" y="5735303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0.628</a:t>
            </a:r>
            <a:endParaRPr lang="en-US" sz="1200" dirty="0"/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5A056714-28AD-BD49-AE79-8F95736B3636}"/>
              </a:ext>
            </a:extLst>
          </p:cNvPr>
          <p:cNvSpPr/>
          <p:nvPr/>
        </p:nvSpPr>
        <p:spPr>
          <a:xfrm>
            <a:off x="459004" y="6037055"/>
            <a:ext cx="210312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2F4FF1AE-7626-4FDE-1CF7-E76DABF4CB91}"/>
              </a:ext>
            </a:extLst>
          </p:cNvPr>
          <p:cNvSpPr/>
          <p:nvPr/>
        </p:nvSpPr>
        <p:spPr>
          <a:xfrm>
            <a:off x="504724" y="6082775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ESPN mock</a:t>
            </a:r>
            <a:endParaRPr lang="en-US" sz="1200" dirty="0"/>
          </a:p>
        </p:txBody>
      </p:sp>
      <p:sp>
        <p:nvSpPr>
          <p:cNvPr id="21" name="Shape 23">
            <a:extLst>
              <a:ext uri="{FF2B5EF4-FFF2-40B4-BE49-F238E27FC236}">
                <a16:creationId xmlns:a16="http://schemas.microsoft.com/office/drawing/2014/main" id="{643D4BFB-BAFD-86F5-AA6F-59123003B30B}"/>
              </a:ext>
            </a:extLst>
          </p:cNvPr>
          <p:cNvSpPr/>
          <p:nvPr/>
        </p:nvSpPr>
        <p:spPr>
          <a:xfrm>
            <a:off x="2562124" y="6037055"/>
            <a:ext cx="100584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6AC9D3BA-D055-FE27-3EA1-A50F983E9A06}"/>
              </a:ext>
            </a:extLst>
          </p:cNvPr>
          <p:cNvSpPr/>
          <p:nvPr/>
        </p:nvSpPr>
        <p:spPr>
          <a:xfrm>
            <a:off x="2607844" y="608277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0.731</a:t>
            </a:r>
            <a:endParaRPr lang="en-US" sz="1200" dirty="0"/>
          </a:p>
        </p:txBody>
      </p:sp>
      <p:sp>
        <p:nvSpPr>
          <p:cNvPr id="23" name="Shape 25">
            <a:extLst>
              <a:ext uri="{FF2B5EF4-FFF2-40B4-BE49-F238E27FC236}">
                <a16:creationId xmlns:a16="http://schemas.microsoft.com/office/drawing/2014/main" id="{25E6DB82-F4A9-CF93-777A-CDBD47281EA9}"/>
              </a:ext>
            </a:extLst>
          </p:cNvPr>
          <p:cNvSpPr/>
          <p:nvPr/>
        </p:nvSpPr>
        <p:spPr>
          <a:xfrm>
            <a:off x="3567964" y="6037055"/>
            <a:ext cx="100584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CEFF457E-E774-9ED6-89C6-057AE1C2818B}"/>
              </a:ext>
            </a:extLst>
          </p:cNvPr>
          <p:cNvSpPr/>
          <p:nvPr/>
        </p:nvSpPr>
        <p:spPr>
          <a:xfrm>
            <a:off x="3613684" y="608277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0.727</a:t>
            </a:r>
            <a:endParaRPr lang="en-US" sz="1200" dirty="0"/>
          </a:p>
        </p:txBody>
      </p:sp>
      <p:sp>
        <p:nvSpPr>
          <p:cNvPr id="25" name="Shape 27">
            <a:extLst>
              <a:ext uri="{FF2B5EF4-FFF2-40B4-BE49-F238E27FC236}">
                <a16:creationId xmlns:a16="http://schemas.microsoft.com/office/drawing/2014/main" id="{A8CD8C35-BA1A-332F-1CAC-15FC37DA4A48}"/>
              </a:ext>
            </a:extLst>
          </p:cNvPr>
          <p:cNvSpPr/>
          <p:nvPr/>
        </p:nvSpPr>
        <p:spPr>
          <a:xfrm>
            <a:off x="4573804" y="6037055"/>
            <a:ext cx="123444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44594739-46D5-D91E-99D5-DFCF2B896966}"/>
              </a:ext>
            </a:extLst>
          </p:cNvPr>
          <p:cNvSpPr/>
          <p:nvPr/>
        </p:nvSpPr>
        <p:spPr>
          <a:xfrm>
            <a:off x="4619524" y="6082775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0.727</a:t>
            </a:r>
            <a:endParaRPr lang="en-US" sz="1200" dirty="0"/>
          </a:p>
        </p:txBody>
      </p:sp>
      <p:sp>
        <p:nvSpPr>
          <p:cNvPr id="27" name="Shape 29">
            <a:extLst>
              <a:ext uri="{FF2B5EF4-FFF2-40B4-BE49-F238E27FC236}">
                <a16:creationId xmlns:a16="http://schemas.microsoft.com/office/drawing/2014/main" id="{B1D0D5E0-FB73-C571-F2AF-DE3CCAB72B8B}"/>
              </a:ext>
            </a:extLst>
          </p:cNvPr>
          <p:cNvSpPr/>
          <p:nvPr/>
        </p:nvSpPr>
        <p:spPr>
          <a:xfrm>
            <a:off x="459004" y="6384527"/>
            <a:ext cx="210312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556E3B8B-4F66-B10B-B9F4-62D965CECF45}"/>
              </a:ext>
            </a:extLst>
          </p:cNvPr>
          <p:cNvSpPr/>
          <p:nvPr/>
        </p:nvSpPr>
        <p:spPr>
          <a:xfrm>
            <a:off x="504724" y="6430247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vs ESPN</a:t>
            </a:r>
            <a:endParaRPr lang="en-US" sz="1200" dirty="0"/>
          </a:p>
        </p:txBody>
      </p:sp>
      <p:sp>
        <p:nvSpPr>
          <p:cNvPr id="29" name="Shape 31">
            <a:extLst>
              <a:ext uri="{FF2B5EF4-FFF2-40B4-BE49-F238E27FC236}">
                <a16:creationId xmlns:a16="http://schemas.microsoft.com/office/drawing/2014/main" id="{45414B47-34F1-53A2-5FE8-10E02A521887}"/>
              </a:ext>
            </a:extLst>
          </p:cNvPr>
          <p:cNvSpPr/>
          <p:nvPr/>
        </p:nvSpPr>
        <p:spPr>
          <a:xfrm>
            <a:off x="2562124" y="6384527"/>
            <a:ext cx="100584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30" name="Text 32">
            <a:extLst>
              <a:ext uri="{FF2B5EF4-FFF2-40B4-BE49-F238E27FC236}">
                <a16:creationId xmlns:a16="http://schemas.microsoft.com/office/drawing/2014/main" id="{4CC24839-178C-8EA6-B10F-433C454E781F}"/>
              </a:ext>
            </a:extLst>
          </p:cNvPr>
          <p:cNvSpPr/>
          <p:nvPr/>
        </p:nvSpPr>
        <p:spPr>
          <a:xfrm>
            <a:off x="2607844" y="643024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0.507</a:t>
            </a:r>
            <a:endParaRPr lang="en-US" sz="1200" dirty="0"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2408A149-6749-5934-9CD2-6F080342DEEB}"/>
              </a:ext>
            </a:extLst>
          </p:cNvPr>
          <p:cNvSpPr/>
          <p:nvPr/>
        </p:nvSpPr>
        <p:spPr>
          <a:xfrm>
            <a:off x="3567964" y="6384527"/>
            <a:ext cx="100584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A73ABA0D-82E3-B098-0350-E0634426B1BF}"/>
              </a:ext>
            </a:extLst>
          </p:cNvPr>
          <p:cNvSpPr/>
          <p:nvPr/>
        </p:nvSpPr>
        <p:spPr>
          <a:xfrm>
            <a:off x="3613684" y="643024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0.492</a:t>
            </a:r>
            <a:endParaRPr lang="en-US" sz="1200" dirty="0"/>
          </a:p>
        </p:txBody>
      </p:sp>
      <p:sp>
        <p:nvSpPr>
          <p:cNvPr id="33" name="Shape 35">
            <a:extLst>
              <a:ext uri="{FF2B5EF4-FFF2-40B4-BE49-F238E27FC236}">
                <a16:creationId xmlns:a16="http://schemas.microsoft.com/office/drawing/2014/main" id="{E3B6E5ED-63AC-D787-8C6E-7383B2CC9FEA}"/>
              </a:ext>
            </a:extLst>
          </p:cNvPr>
          <p:cNvSpPr/>
          <p:nvPr/>
        </p:nvSpPr>
        <p:spPr>
          <a:xfrm>
            <a:off x="4573804" y="6384527"/>
            <a:ext cx="123444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514F2DB2-4280-0419-B3C3-C65689242505}"/>
              </a:ext>
            </a:extLst>
          </p:cNvPr>
          <p:cNvSpPr/>
          <p:nvPr/>
        </p:nvSpPr>
        <p:spPr>
          <a:xfrm>
            <a:off x="4619524" y="6430247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0.491</a:t>
            </a:r>
            <a:endParaRPr lang="en-US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1D5368-787B-1B17-FB24-60F3D2F2415B}"/>
              </a:ext>
            </a:extLst>
          </p:cNvPr>
          <p:cNvSpPr txBox="1"/>
          <p:nvPr/>
        </p:nvSpPr>
        <p:spPr>
          <a:xfrm>
            <a:off x="459004" y="861413"/>
            <a:ext cx="34512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2025 test: train on 2000-2024, test on 2025 draft class</a:t>
            </a:r>
            <a:endParaRPr lang="en-US" sz="1600" dirty="0"/>
          </a:p>
        </p:txBody>
      </p:sp>
      <p:sp>
        <p:nvSpPr>
          <p:cNvPr id="37" name="Text 40">
            <a:extLst>
              <a:ext uri="{FF2B5EF4-FFF2-40B4-BE49-F238E27FC236}">
                <a16:creationId xmlns:a16="http://schemas.microsoft.com/office/drawing/2014/main" id="{1085FEC3-572F-ADE1-68E6-F0D13044B827}"/>
              </a:ext>
            </a:extLst>
          </p:cNvPr>
          <p:cNvSpPr/>
          <p:nvPr/>
        </p:nvSpPr>
        <p:spPr>
          <a:xfrm>
            <a:off x="6126480" y="5140943"/>
            <a:ext cx="5212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was reasonably close to the expert baseline, but ESPN performed better overall. The largest differences appeared in context-heavy prospects, while the model still identified several less-publicized second-round players.</a:t>
            </a:r>
            <a:endParaRPr lang="en-US" sz="1500" dirty="0"/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B8867CFE-7DCD-A49E-8730-FC8EF592BF16}"/>
              </a:ext>
            </a:extLst>
          </p:cNvPr>
          <p:cNvSpPr/>
          <p:nvPr/>
        </p:nvSpPr>
        <p:spPr>
          <a:xfrm>
            <a:off x="6126480" y="4791481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finding</a:t>
            </a:r>
            <a:endParaRPr lang="en-US" sz="1500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C29CAA1-6A13-C9B9-E113-A2FB56F09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12073"/>
            <a:ext cx="4388518" cy="368002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B880E2F-F266-7391-76E2-F59A347C4F25}"/>
              </a:ext>
            </a:extLst>
          </p:cNvPr>
          <p:cNvSpPr txBox="1"/>
          <p:nvPr/>
        </p:nvSpPr>
        <p:spPr>
          <a:xfrm>
            <a:off x="5033775" y="1293008"/>
            <a:ext cx="7047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dirty="0" err="1"/>
              <a:t>Comparison</a:t>
            </a:r>
            <a:r>
              <a:rPr lang="ru-RU" sz="1600" dirty="0"/>
              <a:t> </a:t>
            </a:r>
            <a:r>
              <a:rPr lang="ru-RU" sz="1600" dirty="0" err="1"/>
              <a:t>with</a:t>
            </a:r>
            <a:r>
              <a:rPr lang="ru-RU" sz="1600" dirty="0"/>
              <a:t> </a:t>
            </a:r>
            <a:r>
              <a:rPr lang="ru-RU" sz="1600" dirty="0" err="1"/>
              <a:t>expert</a:t>
            </a:r>
            <a:r>
              <a:rPr lang="ru-RU" sz="1600" dirty="0"/>
              <a:t> </a:t>
            </a:r>
            <a:r>
              <a:rPr lang="ru-RU" sz="1600" dirty="0" err="1"/>
              <a:t>predictions</a:t>
            </a:r>
            <a:r>
              <a:rPr lang="ru-RU" sz="1600" dirty="0"/>
              <a:t> </a:t>
            </a:r>
            <a:r>
              <a:rPr lang="en-US" sz="1600" dirty="0"/>
              <a:t>-</a:t>
            </a:r>
            <a:r>
              <a:rPr lang="ru-RU" sz="1600" dirty="0"/>
              <a:t> ESPN </a:t>
            </a:r>
            <a:r>
              <a:rPr lang="ru-RU" sz="1600" dirty="0" err="1"/>
              <a:t>mock</a:t>
            </a:r>
            <a:r>
              <a:rPr lang="ru-RU" sz="1600" dirty="0"/>
              <a:t> </a:t>
            </a:r>
            <a:r>
              <a:rPr lang="ru-RU" sz="1600" dirty="0" err="1"/>
              <a:t>draft</a:t>
            </a:r>
            <a:r>
              <a:rPr lang="ru-RU" sz="1600" dirty="0"/>
              <a:t> </a:t>
            </a:r>
            <a:r>
              <a:rPr lang="ru-RU" sz="1600" dirty="0" err="1"/>
              <a:t>from</a:t>
            </a:r>
            <a:r>
              <a:rPr lang="ru-RU" sz="1600" dirty="0"/>
              <a:t> </a:t>
            </a:r>
            <a:r>
              <a:rPr lang="ru-RU" sz="1600" dirty="0" err="1"/>
              <a:t>June</a:t>
            </a:r>
            <a:r>
              <a:rPr lang="ru-RU" sz="1600" dirty="0"/>
              <a:t> 25, 2025</a:t>
            </a: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A5B0B1FE-241F-2AFB-2E34-7F2957BA7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024" y="1792137"/>
            <a:ext cx="6890544" cy="287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29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prospective prediction and expert comparison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prediction</a:t>
            </a:r>
            <a:endParaRPr lang="en-US" sz="152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03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 trained on all known historical outcomes from 2000-2025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class is a prediction pool, not a test set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model output first produced too many top_5-like profiles</a:t>
            </a:r>
            <a:endParaRPr lang="en-US" sz="1520" dirty="0"/>
          </a:p>
        </p:txBody>
      </p:sp>
      <p:sp>
        <p:nvSpPr>
          <p:cNvPr id="5" name="Text 3"/>
          <p:cNvSpPr/>
          <p:nvPr/>
        </p:nvSpPr>
        <p:spPr>
          <a:xfrm>
            <a:off x="548640" y="261518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548640" y="2944368"/>
            <a:ext cx="5303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make the output more realistic, raw probabilities were converted into a draft-board ranking. Fixed draft capacities were then applied: 5 top_5, 9 picks_6_14, 16 picks_15_30, 30 second_round.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6446520" y="423319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disagreements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46520" y="4614591"/>
            <a:ext cx="52120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Allen Graves: model top_5, ESPN picks_15_30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 Allen: model picks_6_14, ESPN second_round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Jacob Cofie: model picks_15_30, ESPN undrafted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Yaxel Lendeborg: model second_round, ESPN picks_6_14</a:t>
            </a:r>
            <a:endParaRPr lang="en-US" sz="1450" dirty="0"/>
          </a:p>
        </p:txBody>
      </p:sp>
      <p:graphicFrame>
        <p:nvGraphicFramePr>
          <p:cNvPr id="27" name="Таблица 26">
            <a:extLst>
              <a:ext uri="{FF2B5EF4-FFF2-40B4-BE49-F238E27FC236}">
                <a16:creationId xmlns:a16="http://schemas.microsoft.com/office/drawing/2014/main" id="{05CBFC14-630C-EC86-C113-69F60EDED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433967"/>
              </p:ext>
            </p:extLst>
          </p:nvPr>
        </p:nvGraphicFramePr>
        <p:xfrm>
          <a:off x="548640" y="4361206"/>
          <a:ext cx="4333374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1552">
                  <a:extLst>
                    <a:ext uri="{9D8B030D-6E8A-4147-A177-3AD203B41FA5}">
                      <a16:colId xmlns:a16="http://schemas.microsoft.com/office/drawing/2014/main" val="1537369646"/>
                    </a:ext>
                  </a:extLst>
                </a:gridCol>
                <a:gridCol w="2431822">
                  <a:extLst>
                    <a:ext uri="{9D8B030D-6E8A-4147-A177-3AD203B41FA5}">
                      <a16:colId xmlns:a16="http://schemas.microsoft.com/office/drawing/2014/main" val="20993407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Model vs ESPN agreement</a:t>
                      </a:r>
                    </a:p>
                    <a:p>
                      <a:endParaRPr lang="ru-RU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Value</a:t>
                      </a:r>
                      <a:endParaRPr lang="ru-RU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575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Macro F1</a:t>
                      </a:r>
                    </a:p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0.503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7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Balanced accuracy</a:t>
                      </a:r>
                    </a:p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0.509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845351"/>
                  </a:ext>
                </a:extLst>
              </a:tr>
            </a:tbl>
          </a:graphicData>
        </a:graphic>
      </p:graphicFrame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C2C9F4F-C52D-EFF3-FA60-FC884DB6E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493832"/>
            <a:ext cx="6046104" cy="24987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Discussion, deployment and conclusion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52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53492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NBA Draft outcomes can be predicted to a meaningful degree from structured pre-draft data when the target is formulated as broad outcome groups. The Random Forest model provides an interpretable statistical baseline and a prospective 2026 prediction.</a:t>
            </a:r>
            <a:endParaRPr lang="en-US" sz="152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548640" y="3355848"/>
            <a:ext cx="5349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scouting reports, team needs, workouts, interviews, medical information or draft rumors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NCAA-only scope excludes several international prospects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is not the same as a true constrained ranking task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idea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548640" y="5194755"/>
            <a:ext cx="51603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GitHub Pages dashboard shows the 2026 model prediction and ESPN comparison. After the draft, a script will add actual results and update confusion matrices and visualizations without retraining the model.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6720840" y="494137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</a:t>
            </a:r>
            <a:r>
              <a:rPr lang="ru-RU" sz="15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6720840" y="5268388"/>
            <a:ext cx="44805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ru-RU" sz="1500" dirty="0"/>
              <a:t>The </a:t>
            </a:r>
            <a:r>
              <a:rPr lang="ru-RU" sz="1500" dirty="0" err="1"/>
              <a:t>model</a:t>
            </a:r>
            <a:r>
              <a:rPr lang="ru-RU" sz="1500" dirty="0"/>
              <a:t> </a:t>
            </a:r>
            <a:r>
              <a:rPr lang="ru-RU" sz="1500" dirty="0" err="1"/>
              <a:t>does</a:t>
            </a:r>
            <a:r>
              <a:rPr lang="ru-RU" sz="1500" dirty="0"/>
              <a:t> </a:t>
            </a:r>
            <a:r>
              <a:rPr lang="ru-RU" sz="1500" dirty="0" err="1"/>
              <a:t>not</a:t>
            </a:r>
            <a:r>
              <a:rPr lang="ru-RU" sz="1500" dirty="0"/>
              <a:t> </a:t>
            </a:r>
            <a:r>
              <a:rPr lang="ru-RU" sz="1500" dirty="0" err="1"/>
              <a:t>predict</a:t>
            </a:r>
            <a:r>
              <a:rPr lang="ru-RU" sz="1500" dirty="0"/>
              <a:t> </a:t>
            </a:r>
            <a:r>
              <a:rPr lang="ru-RU" sz="1500" dirty="0" err="1"/>
              <a:t>draft</a:t>
            </a:r>
            <a:r>
              <a:rPr lang="ru-RU" sz="1500" dirty="0"/>
              <a:t> </a:t>
            </a:r>
            <a:r>
              <a:rPr lang="ru-RU" sz="1500" dirty="0" err="1"/>
              <a:t>picks</a:t>
            </a:r>
            <a:r>
              <a:rPr lang="ru-RU" sz="1500" dirty="0"/>
              <a:t> </a:t>
            </a:r>
            <a:r>
              <a:rPr lang="ru-RU" sz="1500" dirty="0" err="1"/>
              <a:t>any</a:t>
            </a:r>
            <a:r>
              <a:rPr lang="ru-RU" sz="1500" dirty="0"/>
              <a:t> </a:t>
            </a:r>
            <a:r>
              <a:rPr lang="ru-RU" sz="1500" dirty="0" err="1"/>
              <a:t>better</a:t>
            </a:r>
            <a:r>
              <a:rPr lang="ru-RU" sz="1500" dirty="0"/>
              <a:t> </a:t>
            </a:r>
            <a:r>
              <a:rPr lang="ru-RU" sz="1500" dirty="0" err="1"/>
              <a:t>than</a:t>
            </a:r>
            <a:r>
              <a:rPr lang="ru-RU" sz="1500" dirty="0"/>
              <a:t> </a:t>
            </a:r>
            <a:r>
              <a:rPr lang="ru-RU" sz="1500" dirty="0" err="1"/>
              <a:t>actual</a:t>
            </a:r>
            <a:r>
              <a:rPr lang="ru-RU" sz="1500" dirty="0"/>
              <a:t> </a:t>
            </a:r>
            <a:r>
              <a:rPr lang="ru-RU" sz="1500" dirty="0" err="1"/>
              <a:t>experts</a:t>
            </a:r>
            <a:r>
              <a:rPr lang="ru-RU" sz="1500" dirty="0"/>
              <a:t>, </a:t>
            </a:r>
            <a:r>
              <a:rPr lang="ru-RU" sz="1500" dirty="0" err="1"/>
              <a:t>but</a:t>
            </a:r>
            <a:r>
              <a:rPr lang="ru-RU" sz="1500" dirty="0"/>
              <a:t> </a:t>
            </a:r>
            <a:r>
              <a:rPr lang="ru-RU" sz="1500" dirty="0" err="1"/>
              <a:t>it</a:t>
            </a:r>
            <a:r>
              <a:rPr lang="ru-RU" sz="1500" dirty="0"/>
              <a:t> </a:t>
            </a:r>
            <a:r>
              <a:rPr lang="ru-RU" sz="1500" dirty="0" err="1"/>
              <a:t>comes</a:t>
            </a:r>
            <a:r>
              <a:rPr lang="ru-RU" sz="1500" dirty="0"/>
              <a:t> </a:t>
            </a:r>
            <a:r>
              <a:rPr lang="ru-RU" sz="1500" dirty="0" err="1"/>
              <a:t>close</a:t>
            </a:r>
            <a:r>
              <a:rPr lang="ru-RU" sz="1500" dirty="0"/>
              <a:t> </a:t>
            </a:r>
            <a:r>
              <a:rPr lang="ru-RU" sz="1500" dirty="0" err="1"/>
              <a:t>to</a:t>
            </a:r>
            <a:r>
              <a:rPr lang="ru-RU" sz="1500" dirty="0"/>
              <a:t> </a:t>
            </a:r>
            <a:r>
              <a:rPr lang="ru-RU" sz="1500" dirty="0" err="1"/>
              <a:t>their</a:t>
            </a:r>
            <a:r>
              <a:rPr lang="ru-RU" sz="1500" dirty="0"/>
              <a:t> </a:t>
            </a:r>
            <a:r>
              <a:rPr lang="ru-RU" sz="1500" dirty="0" err="1"/>
              <a:t>performance</a:t>
            </a:r>
            <a:r>
              <a:rPr lang="ru-RU" sz="1500" dirty="0"/>
              <a:t> </a:t>
            </a:r>
            <a:r>
              <a:rPr lang="ru-RU" sz="1500" dirty="0" err="1"/>
              <a:t>despite</a:t>
            </a:r>
            <a:r>
              <a:rPr lang="ru-RU" sz="1500" dirty="0"/>
              <a:t> a </a:t>
            </a:r>
            <a:r>
              <a:rPr lang="ru-RU" sz="1500" dirty="0" err="1"/>
              <a:t>huge</a:t>
            </a:r>
            <a:r>
              <a:rPr lang="ru-RU" sz="1500" dirty="0"/>
              <a:t> </a:t>
            </a:r>
            <a:r>
              <a:rPr lang="ru-RU" sz="1500" dirty="0" err="1"/>
              <a:t>number</a:t>
            </a:r>
            <a:r>
              <a:rPr lang="ru-RU" sz="1500" dirty="0"/>
              <a:t> </a:t>
            </a:r>
            <a:r>
              <a:rPr lang="ru-RU" sz="1500" dirty="0" err="1"/>
              <a:t>of</a:t>
            </a:r>
            <a:r>
              <a:rPr lang="ru-RU" sz="1500" dirty="0"/>
              <a:t> </a:t>
            </a:r>
            <a:r>
              <a:rPr lang="ru-RU" sz="1500" dirty="0" err="1"/>
              <a:t>limitations</a:t>
            </a:r>
            <a:r>
              <a:rPr lang="ru-RU" sz="1500" dirty="0"/>
              <a:t>. 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995D9E6-BACD-4577-B038-0C5523ADB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465" y="795528"/>
            <a:ext cx="3905250" cy="3905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626</Words>
  <Application>Microsoft Office PowerPoint</Application>
  <PresentationFormat>Широкоэкранный</PresentationFormat>
  <Paragraphs>111</Paragraphs>
  <Slides>5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PJATK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NBA Draft Prediction Final Presentation</dc:title>
  <dc:subject>NBA Draft Prediction</dc:subject>
  <dc:creator>Maksim Serdakov</dc:creator>
  <cp:lastModifiedBy>Maksim Serdakov</cp:lastModifiedBy>
  <cp:revision>8</cp:revision>
  <dcterms:created xsi:type="dcterms:W3CDTF">2026-06-09T22:19:34Z</dcterms:created>
  <dcterms:modified xsi:type="dcterms:W3CDTF">2026-06-09T22:55:16Z</dcterms:modified>
</cp:coreProperties>
</file>